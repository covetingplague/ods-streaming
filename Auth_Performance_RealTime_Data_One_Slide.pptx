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19456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Approval Performance: Today, and the Real-Time Runway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621792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and AI investment behind the Auth Enhancement roadmap · one integrated data estate across both heritages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738360" y="219456"/>
            <a:ext cx="2148840" cy="310896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5,904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enterprise customers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738360" y="576072"/>
            <a:ext cx="2148840" cy="310896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34.4B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auth transactions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3822192" cy="2999232"/>
          </a:xfrm>
          <a:prstGeom prst="roundRect">
            <a:avLst>
              <a:gd name="adj" fmla="val 1524"/>
            </a:avLst>
          </a:prstGeom>
          <a:solidFill>
            <a:srgbClr val="F5F7FA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88136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product-led auth improvement, reactive by design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48056" y="1408176"/>
            <a:ext cx="356616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Issuers still decline valid transactions on incomplete ISO data, suboptimal setup, and misaligned authentication signals; detection today is largely after volume has already failed.</a:t>
            </a:r>
            <a:endParaRPr lang="en-US" sz="93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now: anomaly detection, alerting and diagnostics on VAP authorizations; NAP and Core expansion targeted Q4 2027.</a:t>
            </a:r>
            <a:endParaRPr lang="en-US" sz="93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development: AI recommendations across ISO message quality, optimal merchant and transaction setup, and risk-balanced security settings (3DS, device intelligence).</a:t>
            </a:r>
            <a:endParaRPr lang="en-US" sz="93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levers in play: smart retries on soft declines, credential management, network tokenization, account updater, dynamic routing.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233672" y="1024128"/>
            <a:ext cx="3822192" cy="2999232"/>
          </a:xfrm>
          <a:prstGeom prst="roundRect">
            <a:avLst>
              <a:gd name="adj" fmla="val 1524"/>
            </a:avLst>
          </a:prstGeom>
          <a:solidFill>
            <a:srgbClr val="F5F7FA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088136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real-time build adds to auth performance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61688" y="1408176"/>
            <a:ext cx="356616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authorization data: publish-to-readable in under one second through the shared streaming platform and the operational data store, so models and diagnostics act in-flight, not day-after.</a:t>
            </a:r>
            <a:endParaRPr lang="en-US" sz="93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anomaly detection moves from batch-behind to minutes; issuer and BIN-level shifts surface while corrective action still matters.</a:t>
            </a:r>
            <a:endParaRPr lang="en-US" sz="93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Replayable, schema-governed streams enable the A/B environment and digital-twin work the product team has asked for, plus production-like synthetic data from governed contracts.</a:t>
            </a:r>
            <a:endParaRPr lang="en-US" sz="93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features computed continuously, feeding fixable-versus-non-fixable decline classification.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8147304" y="1024128"/>
            <a:ext cx="3721608" cy="1481328"/>
          </a:xfrm>
          <a:prstGeom prst="roundRect">
            <a:avLst>
              <a:gd name="adj" fmla="val 3086"/>
            </a:avLst>
          </a:prstGeom>
          <a:solidFill>
            <a:srgbClr val="E7F0E2"/>
          </a:solidFill>
          <a:ln w="9525">
            <a:solidFill>
              <a:srgbClr val="4E7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1078992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estate, two heritages: why integration lifts approvals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75320" y="1389888"/>
            <a:ext cx="3465576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and scheme decline behavior visible across both books; models train on twice the signal.</a:t>
            </a:r>
            <a:endParaRPr lang="en-US" sz="900" dirty="0"/>
          </a:p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merchant identity (MDM party model) makes benchmarks comparable across heritages; one set of auth numbers.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47304" y="2615184"/>
            <a:ext cx="3721608" cy="1408176"/>
          </a:xfrm>
          <a:prstGeom prst="roundRect">
            <a:avLst>
              <a:gd name="adj" fmla="val 3247"/>
            </a:avLst>
          </a:prstGeom>
          <a:solidFill>
            <a:srgbClr val="F5F7FA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267004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auth: what internal and operations teams gain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75320" y="2962656"/>
            <a:ext cx="3465576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Servicing, risk and reporting read current-state data, not yesterday’s batch; freshness published per stream.</a:t>
            </a:r>
            <a:endParaRPr lang="en-US" sz="900" dirty="0"/>
          </a:p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onboarding with lineage, catalog and controls pre-applied; new sources land in weeks, then days.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415137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runway: real-time capabilities landing by quarter (Horizon 1, committed plan)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4443984"/>
            <a:ext cx="2816352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143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489704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9768" y="4736592"/>
            <a:ext cx="2596896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88900" indent="-88900"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streaming platform build underway</a:t>
            </a:r>
            <a:endParaRPr lang="en-US" sz="840" dirty="0"/>
          </a:p>
          <a:p>
            <a:pPr marL="88900" indent="-88900"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customer identity (golden ID); batch and micro-batch ingestion live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3273552" y="4443984"/>
            <a:ext cx="2816352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143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4489704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83280" y="4736592"/>
            <a:ext cx="2596896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88900" indent="-88900"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auth streams land, tokenization enforced at the edge</a:t>
            </a:r>
            <a:endParaRPr lang="en-US" sz="840" dirty="0"/>
          </a:p>
          <a:p>
            <a:pPr marL="88900" indent="-88900"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and catalog live; self-service ingestion; new sources in weeks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6227064" y="4443984"/>
            <a:ext cx="2816352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143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18504" y="4489704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36792" y="4736592"/>
            <a:ext cx="2596896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88900" indent="-88900"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data store live; streaming to store in under one second</a:t>
            </a:r>
            <a:endParaRPr lang="en-US" sz="840" dirty="0"/>
          </a:p>
          <a:p>
            <a:pPr marL="88900" indent="-88900"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Phase-1 auth domains served for servicing, risk and optimization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9180576" y="4443984"/>
            <a:ext cx="2688336" cy="1481328"/>
          </a:xfrm>
          <a:prstGeom prst="roundRect">
            <a:avLst>
              <a:gd name="adj" fmla="val 3086"/>
            </a:avLst>
          </a:prstGeom>
          <a:solidFill>
            <a:srgbClr val="1F3864"/>
          </a:solidFill>
          <a:ln w="1143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72016" y="4489704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 +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290304" y="4736592"/>
            <a:ext cx="246888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88900" indent="-88900"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real-time ingestion; stream processing</a:t>
            </a:r>
            <a:endParaRPr lang="en-US" sz="840" dirty="0"/>
          </a:p>
          <a:p>
            <a:pPr marL="88900" indent="-88900"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replication retired; one set of numbers across heritages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320040" y="6053328"/>
            <a:ext cx="11548872" cy="566928"/>
          </a:xfrm>
          <a:prstGeom prst="roundRect">
            <a:avLst>
              <a:gd name="adj" fmla="val 6452"/>
            </a:avLst>
          </a:prstGeom>
          <a:solidFill>
            <a:srgbClr val="F5F7FA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089904"/>
            <a:ext cx="11292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consolidation, without disruption:  </a:t>
            </a:r>
            <a:pPr indent="0" marL="0">
              <a:buNone/>
            </a:pPr>
            <a:r>
              <a:rPr lang="en-US" sz="9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to the single platform runs as a parallel build with dual-run parity validation, so authorization data flows are uninterrupted while heritage estates converge; the single platform is precisely what makes cross-heritage benchmarking and one set of auth numbers possible.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Global Payments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Authorization Approval Performance: Today and the Real-Time Runway</dc:title>
  <dc:subject>Authorization approval performance and real-time data</dc:subject>
  <dc:creator>Krish Boyapati</dc:creator>
  <cp:lastModifiedBy>Krish Boyapati</cp:lastModifiedBy>
  <cp:revision>1</cp:revision>
  <dcterms:created xsi:type="dcterms:W3CDTF">2026-08-27T14:18:51Z</dcterms:created>
  <dcterms:modified xsi:type="dcterms:W3CDTF">2026-08-27T14:18:51Z</dcterms:modified>
</cp:coreProperties>
</file>