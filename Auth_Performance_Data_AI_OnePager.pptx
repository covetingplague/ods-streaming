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Approval Performance — Live Today, Accelerated by Real-Time Data + AI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94360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AI × Enterprise Platforms  ·  in-market capabilities, the real-time build-out, and the one-estate advantage (hGP + hWP)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641080" y="201168"/>
            <a:ext cx="3136392" cy="301752"/>
          </a:xfrm>
          <a:prstGeom prst="roundRect">
            <a:avLst>
              <a:gd name="adj" fmla="val 18182"/>
            </a:avLst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34.4B auth transactions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641080" y="557784"/>
            <a:ext cx="3136392" cy="301752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5,904 enterprise customers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969264"/>
            <a:ext cx="3682289" cy="2194560"/>
          </a:xfrm>
          <a:prstGeom prst="roundRect">
            <a:avLst>
              <a:gd name="adj" fmla="val 3750"/>
            </a:avLst>
          </a:prstGeom>
          <a:solidFill>
            <a:srgbClr val="FBF3F2"/>
          </a:solidFill>
          <a:ln w="9525">
            <a:solidFill>
              <a:srgbClr val="EFD9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" y="1088136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156716"/>
            <a:ext cx="173736" cy="1737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23544" y="1060704"/>
            <a:ext cx="3042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pPr algn="l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Enhancement — in market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76072" y="1499616"/>
            <a:ext cx="337139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LoB-sponsored: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data-science multimodal models that detect issues, explain declines &amp; lift approvals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alerts &amp; diagnostics on VAP auths — expands to NAP &amp; Core Q4 ’27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— ISO log quality, smart retries, optimal setup, risk-based security (3DS, device intelligence)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Auth VAS per merchant — tokenization, account updater, dynamic routing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92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 on declining auth rates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258361" y="969264"/>
            <a:ext cx="3682289" cy="2194560"/>
          </a:xfrm>
          <a:prstGeom prst="roundRect">
            <a:avLst>
              <a:gd name="adj" fmla="val 3750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6377" y="1088136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957" y="1156716"/>
            <a:ext cx="173736" cy="1737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70425" y="1060704"/>
            <a:ext cx="3042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algn="l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&amp; AI unlock for Auth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422953" y="1499616"/>
            <a:ext cx="337139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auth data: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Kafka + Operational Data Store — event to ODS in under 1 second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via digital twins of merchant environments (internal &amp; merchant-led)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prod-like data for safe model training &amp; tuning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semantics: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taxonomy + semantic layer → consistent “fixable vs. non-fixable” classification &amp; benchmarks</a:t>
            </a:r>
            <a:endParaRPr lang="en-US" sz="920" dirty="0"/>
          </a:p>
        </p:txBody>
      </p:sp>
      <p:sp>
        <p:nvSpPr>
          <p:cNvPr id="16" name="Shape 12"/>
          <p:cNvSpPr/>
          <p:nvPr/>
        </p:nvSpPr>
        <p:spPr>
          <a:xfrm>
            <a:off x="8105242" y="969264"/>
            <a:ext cx="3682289" cy="2194560"/>
          </a:xfrm>
          <a:prstGeom prst="roundRect">
            <a:avLst>
              <a:gd name="adj" fmla="val 3750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33258" y="1088136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838" y="1156716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17306" y="1060704"/>
            <a:ext cx="30422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ESTATE  </a:t>
            </a:r>
            <a:pPr algn="l"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hGP + hWP data, integrated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269834" y="1499616"/>
            <a:ext cx="3371393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ID: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trusted merchant / party identity across estates → one view of auth health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numbers: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auth KPIs &amp; cross-estate issuer benchmarks feeding the models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training data: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portfolios combined → stronger detection &amp; recommendation models</a:t>
            </a:r>
            <a:endParaRPr lang="en-US" sz="92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92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 migration: </a:t>
            </a:r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policy + DR proven; Informatica MDM, Attunity &amp; Caspian retire with cost removed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411480" y="3291840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" y="3351276"/>
            <a:ext cx="155448" cy="1554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32735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capability build-out — when it lands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11480" y="3657600"/>
            <a:ext cx="272034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39496" y="3758184"/>
            <a:ext cx="1298448" cy="246888"/>
          </a:xfrm>
          <a:prstGeom prst="roundRect">
            <a:avLst>
              <a:gd name="adj" fmla="val 18519"/>
            </a:avLst>
          </a:prstGeom>
          <a:solidFill>
            <a:srgbClr val="2F3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NOW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57784" y="4078224"/>
            <a:ext cx="24460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Kafka build underway</a:t>
            </a:r>
            <a:endParaRPr lang="en-US" sz="86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Party Model — Golden ID</a:t>
            </a:r>
            <a:endParaRPr lang="en-US" sz="860" dirty="0"/>
          </a:p>
          <a:p>
            <a:pPr algn="l" marL="88900" indent="-88900"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batch / micro-batch ingestion</a:t>
            </a:r>
            <a:endParaRPr lang="en-US" sz="860" dirty="0"/>
          </a:p>
        </p:txBody>
      </p:sp>
      <p:sp>
        <p:nvSpPr>
          <p:cNvPr id="27" name="Text 21"/>
          <p:cNvSpPr txBox="1"/>
          <p:nvPr/>
        </p:nvSpPr>
        <p:spPr>
          <a:xfrm>
            <a:off x="3118104" y="3739896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296412" y="3657600"/>
            <a:ext cx="272034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3424428" y="3758184"/>
            <a:ext cx="1298448" cy="246888"/>
          </a:xfrm>
          <a:prstGeom prst="roundRect">
            <a:avLst>
              <a:gd name="adj" fmla="val 18519"/>
            </a:avLst>
          </a:prstGeom>
          <a:solidFill>
            <a:srgbClr val="2F3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3442716" y="4078224"/>
            <a:ext cx="24460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build starts; DR in build</a:t>
            </a:r>
            <a:endParaRPr lang="en-US" sz="86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enforced; lineage &amp; catalog live</a:t>
            </a:r>
            <a:endParaRPr lang="en-US" sz="860" dirty="0"/>
          </a:p>
          <a:p>
            <a:pPr algn="l" marL="88900" indent="-88900"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ingestion — new sources land in weeks</a:t>
            </a:r>
            <a:endParaRPr lang="en-US" sz="860" dirty="0"/>
          </a:p>
        </p:txBody>
      </p:sp>
      <p:sp>
        <p:nvSpPr>
          <p:cNvPr id="31" name="Text 25"/>
          <p:cNvSpPr txBox="1"/>
          <p:nvPr/>
        </p:nvSpPr>
        <p:spPr>
          <a:xfrm>
            <a:off x="6003036" y="3739896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181344" y="3657600"/>
            <a:ext cx="2720340" cy="1298448"/>
          </a:xfrm>
          <a:prstGeom prst="roundRect">
            <a:avLst>
              <a:gd name="adj" fmla="val 5634"/>
            </a:avLst>
          </a:prstGeom>
          <a:solidFill>
            <a:srgbClr val="FBF3F2"/>
          </a:solidFill>
          <a:ln w="9525">
            <a:solidFill>
              <a:srgbClr val="EFD9D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309360" y="3758184"/>
            <a:ext cx="1298448" cy="246888"/>
          </a:xfrm>
          <a:prstGeom prst="roundRect">
            <a:avLst>
              <a:gd name="adj" fmla="val 18519"/>
            </a:avLst>
          </a:prstGeom>
          <a:solidFill>
            <a:srgbClr val="99001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6327648" y="4078224"/>
            <a:ext cx="24460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live — Kafka → ODS &lt; 1 s</a:t>
            </a:r>
            <a:endParaRPr lang="en-US" sz="86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(NRT) ingestion</a:t>
            </a:r>
            <a:endParaRPr lang="en-US" sz="860" dirty="0"/>
          </a:p>
          <a:p>
            <a:pPr algn="l" marL="88900" indent="-88900"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domains (Payments, Billing, Merchant, Risk) + access policy</a:t>
            </a:r>
            <a:endParaRPr lang="en-US" sz="860" dirty="0"/>
          </a:p>
        </p:txBody>
      </p:sp>
      <p:sp>
        <p:nvSpPr>
          <p:cNvPr id="35" name="Text 29"/>
          <p:cNvSpPr txBox="1"/>
          <p:nvPr/>
        </p:nvSpPr>
        <p:spPr>
          <a:xfrm>
            <a:off x="8887968" y="3739896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066276" y="3657600"/>
            <a:ext cx="272034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9194292" y="3758184"/>
            <a:ext cx="1298448" cy="246888"/>
          </a:xfrm>
          <a:prstGeom prst="roundRect">
            <a:avLst>
              <a:gd name="adj" fmla="val 18519"/>
            </a:avLst>
          </a:prstGeom>
          <a:solidFill>
            <a:srgbClr val="2F3C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9212580" y="4078224"/>
            <a:ext cx="24460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processing; self-service real-time ingestion</a:t>
            </a:r>
            <a:endParaRPr lang="en-US" sz="860" dirty="0"/>
          </a:p>
          <a:p>
            <a:pPr algn="l" marL="88900" indent="-889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consumption enabled</a:t>
            </a:r>
            <a:endParaRPr lang="en-US" sz="860" dirty="0"/>
          </a:p>
          <a:p>
            <a:pPr algn="l" marL="88900" indent="-88900">
              <a:buSzPct val="100000"/>
              <a:buChar char="•"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domains; semantic layer live</a:t>
            </a:r>
            <a:endParaRPr lang="en-US" sz="860" dirty="0"/>
          </a:p>
        </p:txBody>
      </p:sp>
      <p:sp>
        <p:nvSpPr>
          <p:cNvPr id="39" name="Shape 33"/>
          <p:cNvSpPr/>
          <p:nvPr/>
        </p:nvSpPr>
        <p:spPr>
          <a:xfrm>
            <a:off x="411480" y="5120640"/>
            <a:ext cx="274320" cy="2743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" y="5180076"/>
            <a:ext cx="155448" cy="155448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777240" y="51023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wins — internal &amp; operational teams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411480" y="5468112"/>
            <a:ext cx="11375136" cy="969264"/>
          </a:xfrm>
          <a:prstGeom prst="roundRect">
            <a:avLst>
              <a:gd name="adj" fmla="val 7547"/>
            </a:avLst>
          </a:prstGeom>
          <a:solidFill>
            <a:srgbClr val="F4F6FA"/>
          </a:solidFill>
          <a:ln w="9525">
            <a:solidFill>
              <a:srgbClr val="DFE4E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94360" y="5586984"/>
            <a:ext cx="253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6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&amp; risk ops</a:t>
            </a:r>
            <a:endParaRPr lang="en-US" sz="9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data in the ODS powers servicing, risk &amp; optimization decisions</a:t>
            </a:r>
            <a:endParaRPr lang="en-US" sz="960" dirty="0"/>
          </a:p>
        </p:txBody>
      </p:sp>
      <p:sp>
        <p:nvSpPr>
          <p:cNvPr id="44" name="Text 37"/>
          <p:cNvSpPr txBox="1"/>
          <p:nvPr/>
        </p:nvSpPr>
        <p:spPr>
          <a:xfrm>
            <a:off x="3346704" y="5586984"/>
            <a:ext cx="253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6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acquisition</a:t>
            </a:r>
            <a:endParaRPr lang="en-US" sz="9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land new sources in weeks, controls pre-applied — no engineering queue</a:t>
            </a:r>
            <a:endParaRPr lang="en-US" sz="960" dirty="0"/>
          </a:p>
        </p:txBody>
      </p:sp>
      <p:sp>
        <p:nvSpPr>
          <p:cNvPr id="45" name="Text 38"/>
          <p:cNvSpPr txBox="1"/>
          <p:nvPr/>
        </p:nvSpPr>
        <p:spPr>
          <a:xfrm>
            <a:off x="6099048" y="5586984"/>
            <a:ext cx="253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6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domains</a:t>
            </a:r>
            <a:endParaRPr lang="en-US" sz="9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pipelines feed non-real-time analytics — one set of numbers for ops &amp; finance</a:t>
            </a:r>
            <a:endParaRPr lang="en-US" sz="960" dirty="0"/>
          </a:p>
        </p:txBody>
      </p:sp>
      <p:sp>
        <p:nvSpPr>
          <p:cNvPr id="46" name="Text 39"/>
          <p:cNvSpPr txBox="1"/>
          <p:nvPr/>
        </p:nvSpPr>
        <p:spPr>
          <a:xfrm>
            <a:off x="8851392" y="5586984"/>
            <a:ext cx="2532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6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toolset</a:t>
            </a:r>
            <a:endParaRPr lang="en-US" sz="9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lineage &amp; consolidated BI; data sharing + APIs for downstream apps</a:t>
            </a:r>
            <a:endParaRPr lang="en-US" sz="960" dirty="0"/>
          </a:p>
        </p:txBody>
      </p:sp>
      <p:sp>
        <p:nvSpPr>
          <p:cNvPr id="47" name="Text 40"/>
          <p:cNvSpPr txBox="1"/>
          <p:nvPr/>
        </p:nvSpPr>
        <p:spPr>
          <a:xfrm>
            <a:off x="411480" y="651052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Auth Enhancement one-pager (Enterprise LoB)  ·  Horizon 1 data platform roadmap — DRAFT, dates indicative  ·  Internal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2026-08-27T14:22:30Z</dcterms:created>
  <dcterms:modified xsi:type="dcterms:W3CDTF">2026-08-27T14:22:30Z</dcterms:modified>
</cp:coreProperties>
</file>